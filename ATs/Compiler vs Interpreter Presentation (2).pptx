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13" Type="http://schemas.openxmlformats.org/officeDocument/2006/relationships/image" Target="../media/image19.png" /><Relationship Id="rId3" Type="http://schemas.openxmlformats.org/officeDocument/2006/relationships/image" Target="../media/image9.png" /><Relationship Id="rId7" Type="http://schemas.openxmlformats.org/officeDocument/2006/relationships/image" Target="../media/image13.png" /><Relationship Id="rId12" Type="http://schemas.openxmlformats.org/officeDocument/2006/relationships/image" Target="../media/image18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2.png" /><Relationship Id="rId11" Type="http://schemas.openxmlformats.org/officeDocument/2006/relationships/image" Target="../media/image17.png" /><Relationship Id="rId5" Type="http://schemas.openxmlformats.org/officeDocument/2006/relationships/image" Target="../media/image11.png" /><Relationship Id="rId15" Type="http://schemas.openxmlformats.org/officeDocument/2006/relationships/image" Target="../media/image21.png" /><Relationship Id="rId10" Type="http://schemas.openxmlformats.org/officeDocument/2006/relationships/image" Target="../media/image16.png" /><Relationship Id="rId4" Type="http://schemas.openxmlformats.org/officeDocument/2006/relationships/image" Target="../media/image10.png" /><Relationship Id="rId9" Type="http://schemas.openxmlformats.org/officeDocument/2006/relationships/image" Target="../media/image15.png" /><Relationship Id="rId14" Type="http://schemas.openxmlformats.org/officeDocument/2006/relationships/image" Target="../media/image20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 /><Relationship Id="rId13" Type="http://schemas.openxmlformats.org/officeDocument/2006/relationships/image" Target="../media/image37.png" /><Relationship Id="rId3" Type="http://schemas.openxmlformats.org/officeDocument/2006/relationships/image" Target="../media/image9.png" /><Relationship Id="rId7" Type="http://schemas.openxmlformats.org/officeDocument/2006/relationships/image" Target="../media/image31.png" /><Relationship Id="rId12" Type="http://schemas.openxmlformats.org/officeDocument/2006/relationships/image" Target="../media/image36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png" /><Relationship Id="rId11" Type="http://schemas.openxmlformats.org/officeDocument/2006/relationships/image" Target="../media/image35.png" /><Relationship Id="rId5" Type="http://schemas.openxmlformats.org/officeDocument/2006/relationships/image" Target="../media/image29.png" /><Relationship Id="rId10" Type="http://schemas.openxmlformats.org/officeDocument/2006/relationships/image" Target="../media/image34.png" /><Relationship Id="rId4" Type="http://schemas.openxmlformats.org/officeDocument/2006/relationships/image" Target="../media/image28.png" /><Relationship Id="rId9" Type="http://schemas.openxmlformats.org/officeDocument/2006/relationships/image" Target="../media/image33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 /><Relationship Id="rId3" Type="http://schemas.openxmlformats.org/officeDocument/2006/relationships/image" Target="../media/image39.png" /><Relationship Id="rId7" Type="http://schemas.openxmlformats.org/officeDocument/2006/relationships/image" Target="../media/image43.png" /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2.png" /><Relationship Id="rId5" Type="http://schemas.openxmlformats.org/officeDocument/2006/relationships/image" Target="../media/image41.png" /><Relationship Id="rId4" Type="http://schemas.openxmlformats.org/officeDocument/2006/relationships/image" Target="../media/image40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 /><Relationship Id="rId13" Type="http://schemas.openxmlformats.org/officeDocument/2006/relationships/image" Target="../media/image55.png" /><Relationship Id="rId3" Type="http://schemas.openxmlformats.org/officeDocument/2006/relationships/image" Target="../media/image45.png" /><Relationship Id="rId7" Type="http://schemas.openxmlformats.org/officeDocument/2006/relationships/image" Target="../media/image49.png" /><Relationship Id="rId12" Type="http://schemas.openxmlformats.org/officeDocument/2006/relationships/image" Target="../media/image54.png" /><Relationship Id="rId2" Type="http://schemas.openxmlformats.org/officeDocument/2006/relationships/image" Target="../media/image1.png" /><Relationship Id="rId16" Type="http://schemas.openxmlformats.org/officeDocument/2006/relationships/image" Target="../media/image5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8.png" /><Relationship Id="rId11" Type="http://schemas.openxmlformats.org/officeDocument/2006/relationships/image" Target="../media/image53.png" /><Relationship Id="rId5" Type="http://schemas.openxmlformats.org/officeDocument/2006/relationships/image" Target="../media/image47.png" /><Relationship Id="rId15" Type="http://schemas.openxmlformats.org/officeDocument/2006/relationships/image" Target="../media/image57.png" /><Relationship Id="rId10" Type="http://schemas.openxmlformats.org/officeDocument/2006/relationships/image" Target="../media/image52.png" /><Relationship Id="rId4" Type="http://schemas.openxmlformats.org/officeDocument/2006/relationships/image" Target="../media/image46.png" /><Relationship Id="rId9" Type="http://schemas.openxmlformats.org/officeDocument/2006/relationships/image" Target="../media/image51.png" /><Relationship Id="rId14" Type="http://schemas.openxmlformats.org/officeDocument/2006/relationships/image" Target="../media/image56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 /><Relationship Id="rId3" Type="http://schemas.openxmlformats.org/officeDocument/2006/relationships/image" Target="../media/image59.png" /><Relationship Id="rId7" Type="http://schemas.openxmlformats.org/officeDocument/2006/relationships/image" Target="../media/image6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2.png" /><Relationship Id="rId5" Type="http://schemas.openxmlformats.org/officeDocument/2006/relationships/image" Target="../media/image61.png" /><Relationship Id="rId4" Type="http://schemas.openxmlformats.org/officeDocument/2006/relationships/image" Target="../media/image60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81201" y="2430809"/>
            <a:ext cx="6829447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 dirty="0">
                <a:solidFill>
                  <a:srgbClr val="F8FAFC"/>
                </a:solidFill>
                <a:latin typeface="Space Grotesk"/>
              </a:rPr>
              <a:t>Language Translators:</a:t>
            </a:r>
            <a:r>
              <a:rPr dirty="0"/>
              <a:t>
</a:t>
            </a:r>
            <a:r>
              <a:rPr sz="4350" b="0" i="0" u="none" dirty="0">
                <a:solidFill>
                  <a:srgbClr val="38BDF8"/>
                </a:solidFill>
                <a:latin typeface="Space Grotesk SemiBold"/>
              </a:rPr>
              <a:t>Compilers</a:t>
            </a:r>
            <a:r>
              <a:rPr sz="4350" b="1" i="0" u="none" dirty="0">
                <a:solidFill>
                  <a:srgbClr val="F8FAFC"/>
                </a:solidFill>
                <a:latin typeface="Space Grotesk"/>
              </a:rPr>
              <a:t> vs. </a:t>
            </a:r>
            <a:r>
              <a:rPr sz="4350" b="0" i="0" u="none" dirty="0">
                <a:solidFill>
                  <a:srgbClr val="34D399"/>
                </a:solidFill>
                <a:latin typeface="Space Grotesk SemiBold"/>
              </a:rPr>
              <a:t>Interpreters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787" y="3836640"/>
            <a:ext cx="41624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94A3B8"/>
                </a:solidFill>
                <a:latin typeface="Inter"/>
              </a:rPr>
              <a:t>How Computers Execute High-Level Code</a:t>
            </a:r>
          </a:p>
        </p:txBody>
      </p:sp>
      <p:pic>
        <p:nvPicPr>
          <p:cNvPr id="12" name="Picture 2" descr="SSE-Computer Science and Engineering">
            <a:extLst>
              <a:ext uri="{FF2B5EF4-FFF2-40B4-BE49-F238E27FC236}">
                <a16:creationId xmlns:a16="http://schemas.microsoft.com/office/drawing/2014/main" id="{F2814E74-AA6E-0964-6455-7F5998C5B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76" y="320440"/>
            <a:ext cx="11473296" cy="1215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7620B4-CD43-4F51-15B2-C61A876A875E}"/>
              </a:ext>
            </a:extLst>
          </p:cNvPr>
          <p:cNvSpPr txBox="1"/>
          <p:nvPr/>
        </p:nvSpPr>
        <p:spPr>
          <a:xfrm>
            <a:off x="707922" y="4778477"/>
            <a:ext cx="3775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M.V.Rakesh</a:t>
            </a:r>
            <a:r>
              <a:rPr lang="en-US" dirty="0">
                <a:solidFill>
                  <a:schemeClr val="bg1"/>
                </a:solidFill>
              </a:rPr>
              <a:t> Reddy(192524164)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CSA1407 - COMPILER DESIGN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59718"/>
            <a:ext cx="5324475" cy="15478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259931"/>
            <a:ext cx="5324475" cy="1304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17256"/>
            <a:ext cx="5324475" cy="1304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0732" y="1797843"/>
            <a:ext cx="4794974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140743"/>
            <a:ext cx="48482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Humans write code in </a:t>
            </a:r>
            <a:r>
              <a:rPr sz="1275" b="0" i="0" u="none" dirty="0">
                <a:solidFill>
                  <a:srgbClr val="38BDF8"/>
                </a:solidFill>
                <a:latin typeface="Inter SemiBold"/>
              </a:rPr>
              <a:t>High-Level Languages (HLL)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like C++, Java, or Python for readability. However, hardware processors can only execute </a:t>
            </a:r>
            <a:r>
              <a:rPr sz="1275" b="0" i="0" u="none" dirty="0">
                <a:solidFill>
                  <a:srgbClr val="34D399"/>
                </a:solidFill>
                <a:latin typeface="Inter SemiBold"/>
              </a:rPr>
              <a:t>Machine Code (0s and 1s)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732" y="3498056"/>
            <a:ext cx="4794974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840956"/>
            <a:ext cx="4848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We require a </a:t>
            </a:r>
            <a:r>
              <a:rPr sz="1275" b="0" i="0" u="none">
                <a:solidFill>
                  <a:srgbClr val="38BDF8"/>
                </a:solidFill>
                <a:latin typeface="Inter SemiBold"/>
              </a:rPr>
              <a:t>Language Translator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to bridge the gap between human logic and binary machine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307" y="4955381"/>
            <a:ext cx="476497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Two Main Approaches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298281"/>
            <a:ext cx="4848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8BDF8"/>
                </a:solidFill>
                <a:latin typeface="Inter SemiBold"/>
              </a:rPr>
              <a:t>1. Compilation: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Translates the entire code at once.</a:t>
            </a:r>
            <a:r>
              <a:t>
</a:t>
            </a:r>
            <a:r>
              <a:rPr sz="1275" b="0" i="0" u="none">
                <a:solidFill>
                  <a:srgbClr val="34D399"/>
                </a:solidFill>
                <a:latin typeface="Inter SemiBold"/>
              </a:rPr>
              <a:t>2. Interpretation: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Translates and executes line-by-line.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835943"/>
            <a:ext cx="186332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536156"/>
            <a:ext cx="186332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993481"/>
            <a:ext cx="214907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Why Do We Need Language Processors?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90700"/>
            <a:ext cx="532447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707356"/>
            <a:ext cx="5324475" cy="881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A </a:t>
            </a:r>
            <a:r>
              <a:rPr sz="1275" b="1" i="0" u="none" dirty="0">
                <a:solidFill>
                  <a:srgbClr val="94A3B8"/>
                </a:solidFill>
                <a:latin typeface="Inter"/>
              </a:rPr>
              <a:t>Compiler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reads the entire source program, translates it into machine/object code, and saves it as an executable file ( / 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740818"/>
            <a:ext cx="532447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407818"/>
            <a:ext cx="53244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 SemiBold"/>
              </a:rPr>
              <a:t>PRIMARY LANGUAGES:</a:t>
            </a:r>
            <a:r>
              <a:t>
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1988343"/>
            <a:ext cx="506908" cy="2809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307431"/>
            <a:ext cx="358229" cy="2809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050" y="2883693"/>
            <a:ext cx="828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Source Code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8600" y="2902743"/>
            <a:ext cx="11430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01775" y="2883693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Compiler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151" y="2902743"/>
            <a:ext cx="114300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65326" y="2883693"/>
            <a:ext cx="790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Object Code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4776" y="2902743"/>
            <a:ext cx="11430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7952" y="2883693"/>
            <a:ext cx="657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4D399"/>
                </a:solidFill>
                <a:latin typeface="Space Grotesk SemiBold"/>
              </a:rPr>
              <a:t>Execution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5636418"/>
            <a:ext cx="283964" cy="2381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139" y="5636418"/>
            <a:ext cx="432494" cy="238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1783" y="5636418"/>
            <a:ext cx="506908" cy="2381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6025" y="1800225"/>
            <a:ext cx="5305425" cy="398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925" y="3350418"/>
            <a:ext cx="4981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Speed: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Initial compilation takes time, but subsequent binary execution is extremely fast.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4036218"/>
            <a:ext cx="4981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Memory: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Requires more memory to store the intermediate target object 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4722018"/>
            <a:ext cx="4981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Error Handling: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Scans the whole file and reports all errors together at the end.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" y="3374231"/>
            <a:ext cx="1714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" y="4060031"/>
            <a:ext cx="219075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025" y="4745831"/>
            <a:ext cx="190500" cy="2000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What is a Compiler?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ABC1E-C10B-B4E0-036C-7BC2E5B7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BF1F487D-95B9-AA45-210B-7EDEB477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80592"/>
            <a:ext cx="5410200" cy="3811190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FB3C09C1-3E14-5590-0EB7-6768B173C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939307"/>
            <a:ext cx="4933950" cy="514350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014E5C15-1324-069F-A56B-552F0A6C9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76437"/>
            <a:ext cx="5410200" cy="833437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5A9ED2DB-8D28-6640-A14A-53A7ECE9D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905125"/>
            <a:ext cx="5410200" cy="833437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3A856198-3140-B119-5A8F-D9F355331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833812"/>
            <a:ext cx="5410200" cy="833437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40BDE0B1-2B52-B1D5-7C43-C189E49B8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762500"/>
            <a:ext cx="5410200" cy="833437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3B80F95A-B023-1660-250E-BF874FEB3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794992"/>
            <a:ext cx="4933950" cy="201096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418D371-6E3C-1B3F-E2FC-E49AFEEF1824}"/>
              </a:ext>
            </a:extLst>
          </p:cNvPr>
          <p:cNvSpPr txBox="1"/>
          <p:nvPr/>
        </p:nvSpPr>
        <p:spPr>
          <a:xfrm>
            <a:off x="771525" y="2118717"/>
            <a:ext cx="5180647" cy="266700"/>
          </a:xfrm>
          <a:prstGeom prst="rect">
            <a:avLst/>
          </a:prstGeom>
          <a:noFill/>
        </p:spPr>
        <p:txBody>
          <a:bodyPr wrap="square" lIns="338732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 Source Code (main.c)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BD6453-69E6-DEF8-4FA7-30F5DA13810F}"/>
              </a:ext>
            </a:extLst>
          </p:cNvPr>
          <p:cNvSpPr txBox="1"/>
          <p:nvPr/>
        </p:nvSpPr>
        <p:spPr>
          <a:xfrm>
            <a:off x="771525" y="2480667"/>
            <a:ext cx="49339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Source program compiled ahead-of-time (AOT):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D23C19-6C9C-4CEE-4E68-790DA87AC8E8}"/>
              </a:ext>
            </a:extLst>
          </p:cNvPr>
          <p:cNvSpPr txBox="1"/>
          <p:nvPr/>
        </p:nvSpPr>
        <p:spPr>
          <a:xfrm>
            <a:off x="6438900" y="2100262"/>
            <a:ext cx="531066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1. Preprocessor (gcc -E main.c)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C8DF3E-BD50-B04B-D89A-B6F22BF1E214}"/>
              </a:ext>
            </a:extLst>
          </p:cNvPr>
          <p:cNvSpPr txBox="1"/>
          <p:nvPr/>
        </p:nvSpPr>
        <p:spPr>
          <a:xfrm>
            <a:off x="6438900" y="2300287"/>
            <a:ext cx="50577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Plus Jakarta Sans"/>
              </a:rPr>
              <a:t>Expands header files (#include), replaces macros (#define), and strips comments $\rightarrow$ generates main.i.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F9A4DE-9DEA-F49B-6E8E-A17C386ADCC5}"/>
              </a:ext>
            </a:extLst>
          </p:cNvPr>
          <p:cNvSpPr txBox="1"/>
          <p:nvPr/>
        </p:nvSpPr>
        <p:spPr>
          <a:xfrm>
            <a:off x="6438900" y="3028950"/>
            <a:ext cx="531066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2. Compiler (gcc -S main.i)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F83E8D-1A9B-05AD-17B9-FE604B39C0A3}"/>
              </a:ext>
            </a:extLst>
          </p:cNvPr>
          <p:cNvSpPr txBox="1"/>
          <p:nvPr/>
        </p:nvSpPr>
        <p:spPr>
          <a:xfrm>
            <a:off x="6438900" y="3228975"/>
            <a:ext cx="50577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Plus Jakarta Sans"/>
              </a:rPr>
              <a:t>Performs lexical, syntax (AST), and semantic analysis $\rightarrow$ optimizes and translates C into target CPU Assembly (main.s).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8DA8D6-B70C-411A-75BC-1372BED173A1}"/>
              </a:ext>
            </a:extLst>
          </p:cNvPr>
          <p:cNvSpPr txBox="1"/>
          <p:nvPr/>
        </p:nvSpPr>
        <p:spPr>
          <a:xfrm>
            <a:off x="6438900" y="3957637"/>
            <a:ext cx="531066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3. Assembler (gcc -c main.s)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ABD822-7C5C-4F3C-2565-C2A0B8308B08}"/>
              </a:ext>
            </a:extLst>
          </p:cNvPr>
          <p:cNvSpPr txBox="1"/>
          <p:nvPr/>
        </p:nvSpPr>
        <p:spPr>
          <a:xfrm>
            <a:off x="6438900" y="4157662"/>
            <a:ext cx="50577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Plus Jakarta Sans"/>
              </a:rPr>
              <a:t>Translates assembly mnemonic instructions into machine binary object code (main.o).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F1C4A9-BDAA-938D-0859-4B4728D67805}"/>
              </a:ext>
            </a:extLst>
          </p:cNvPr>
          <p:cNvSpPr txBox="1"/>
          <p:nvPr/>
        </p:nvSpPr>
        <p:spPr>
          <a:xfrm>
            <a:off x="6438900" y="4886325"/>
            <a:ext cx="531066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4. Linker &amp; Execution (gcc main.o -o app)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87DC86-2A92-4594-95E6-526F8C8E9110}"/>
              </a:ext>
            </a:extLst>
          </p:cNvPr>
          <p:cNvSpPr txBox="1"/>
          <p:nvPr/>
        </p:nvSpPr>
        <p:spPr>
          <a:xfrm>
            <a:off x="6438900" y="5086350"/>
            <a:ext cx="50577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Plus Jakarta Sans"/>
              </a:rPr>
              <a:t>Links object code with C standard runtime libraries (libc) $\rightarrow$ OS loads binary executable into RAM for CPU execution.</a:t>
            </a:r>
          </a:p>
        </p:txBody>
      </p:sp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1E176387-AF3F-39D4-BF52-BE80E5F392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147292"/>
            <a:ext cx="262532" cy="20955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614A1D56-DDF3-B85D-75C5-56B609CD0365}"/>
              </a:ext>
            </a:extLst>
          </p:cNvPr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Space Grotesk"/>
              </a:rPr>
              <a:t>Compiler Workflow: C Code Execution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D08E05-7009-93F6-0E8B-7046713FFCF6}"/>
              </a:ext>
            </a:extLst>
          </p:cNvPr>
          <p:cNvSpPr txBox="1"/>
          <p:nvPr/>
        </p:nvSpPr>
        <p:spPr>
          <a:xfrm>
            <a:off x="685800" y="609600"/>
            <a:ext cx="1165860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chemeClr val="bg1"/>
                </a:solidFill>
                <a:latin typeface="Space Grotesk"/>
              </a:rPr>
              <a:t>Compiler Workflow: C Code Execution</a:t>
            </a:r>
          </a:p>
        </p:txBody>
      </p:sp>
    </p:spTree>
    <p:extLst>
      <p:ext uri="{BB962C8B-B14F-4D97-AF65-F5344CB8AC3E}">
        <p14:creationId xmlns:p14="http://schemas.microsoft.com/office/powerpoint/2010/main" val="180285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90700"/>
            <a:ext cx="532447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05000"/>
            <a:ext cx="5324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An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Interpreter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processes high-level code line-by-line, translating and executing each line immediately before moving to the next.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43175"/>
            <a:ext cx="532447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210175"/>
            <a:ext cx="53244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Inter SemiBold"/>
              </a:rPr>
              <a:t>PRIMARY LANGUAGES:</a:t>
            </a:r>
            <a:r>
              <a:rPr dirty="0"/>
              <a:t>
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268605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Source Line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9306" y="2705100"/>
            <a:ext cx="1143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00337" y="2686050"/>
            <a:ext cx="695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Interpreter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2393" y="2705100"/>
            <a:ext cx="11430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425" y="2686050"/>
            <a:ext cx="1162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4D399"/>
                </a:solidFill>
                <a:latin typeface="Space Grotesk SemiBold"/>
              </a:rPr>
              <a:t>Immediate Output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438775"/>
            <a:ext cx="655439" cy="23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3614" y="5438775"/>
            <a:ext cx="952648" cy="238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3412" y="5438775"/>
            <a:ext cx="506908" cy="238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7471" y="5438775"/>
            <a:ext cx="432494" cy="2381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6025" y="1800225"/>
            <a:ext cx="5305425" cy="398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925" y="3152775"/>
            <a:ext cx="4981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Speed: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Starts running instantly, but total execution is slower for loops and large programs.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838575"/>
            <a:ext cx="4981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Memory: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Less memory intensive as no intermediate object file is created or saved.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524375"/>
            <a:ext cx="4981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Error Handling: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Halts execution immediately at the exact line an error occurs.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" y="3176587"/>
            <a:ext cx="14287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5" y="3862387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" y="4548187"/>
            <a:ext cx="142875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What is an Interpreter?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14055-256E-B359-09CB-E4CECF2E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C808AD0D-8B8C-FDE1-6F60-2532DDE1FE4F}"/>
              </a:ext>
            </a:extLst>
          </p:cNvPr>
          <p:cNvSpPr txBox="1"/>
          <p:nvPr/>
        </p:nvSpPr>
        <p:spPr>
          <a:xfrm>
            <a:off x="533400" y="410185"/>
            <a:ext cx="1165860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chemeClr val="bg1"/>
                </a:solidFill>
                <a:latin typeface="Space Grotesk"/>
              </a:rPr>
              <a:t>Interpreter Workflow: Python Code Execution</a:t>
            </a:r>
          </a:p>
        </p:txBody>
      </p:sp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3ACB68FB-DEC1-28EE-24F4-612353DFA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4915B70F-01BE-455A-B050-46E49CA0C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48" y="1880592"/>
            <a:ext cx="5410200" cy="3811190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3488B738-FE08-37C0-8936-E8F0ADEB3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76437"/>
            <a:ext cx="5410200" cy="833437"/>
          </a:xfrm>
          <a:prstGeom prst="rect">
            <a:avLst/>
          </a:prstGeom>
        </p:spPr>
      </p:pic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D5E1CF3C-1CB3-6E8C-0646-0622B8E93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905125"/>
            <a:ext cx="5410200" cy="833437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84AB2618-E116-9376-E320-E356A1E0E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833812"/>
            <a:ext cx="5410200" cy="833437"/>
          </a:xfrm>
          <a:prstGeom prst="rect">
            <a:avLst/>
          </a:prstGeom>
        </p:spPr>
      </p:pic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5B475C44-A940-C6B2-3663-62AAC02C9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762500"/>
            <a:ext cx="5410200" cy="833437"/>
          </a:xfrm>
          <a:prstGeom prst="rect">
            <a:avLst/>
          </a:prstGeom>
        </p:spPr>
      </p:pic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D93EEEA7-B69B-707D-C214-8A61BCB50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794992"/>
            <a:ext cx="4933950" cy="2010965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436EA49-F5A7-86A6-EC89-5C70E199F5A4}"/>
              </a:ext>
            </a:extLst>
          </p:cNvPr>
          <p:cNvSpPr txBox="1"/>
          <p:nvPr/>
        </p:nvSpPr>
        <p:spPr>
          <a:xfrm>
            <a:off x="771525" y="2118717"/>
            <a:ext cx="5180647" cy="266700"/>
          </a:xfrm>
          <a:prstGeom prst="rect">
            <a:avLst/>
          </a:prstGeom>
          <a:noFill/>
        </p:spPr>
        <p:txBody>
          <a:bodyPr wrap="square" lIns="310157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Python Script (script.py)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0BDA4A7-5598-F430-0A5C-4810327F5AA0}"/>
              </a:ext>
            </a:extLst>
          </p:cNvPr>
          <p:cNvSpPr txBox="1"/>
          <p:nvPr/>
        </p:nvSpPr>
        <p:spPr>
          <a:xfrm>
            <a:off x="771525" y="2480667"/>
            <a:ext cx="49339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Source script executed via CPython runtime:</a:t>
            </a:r>
          </a:p>
        </p:txBody>
      </p:sp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0CE24EE4-111C-BFC1-60FE-65D98D69E6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807" y="5063132"/>
            <a:ext cx="133350" cy="12858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D7BB2BA6-A2AB-6500-BBD3-83DDF1371A4D}"/>
              </a:ext>
            </a:extLst>
          </p:cNvPr>
          <p:cNvSpPr txBox="1"/>
          <p:nvPr/>
        </p:nvSpPr>
        <p:spPr>
          <a:xfrm>
            <a:off x="6438900" y="2100262"/>
            <a:ext cx="531066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1. Tokenizing &amp; Parsing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6898BF-1A0C-DE1F-B803-73202F0D185D}"/>
              </a:ext>
            </a:extLst>
          </p:cNvPr>
          <p:cNvSpPr txBox="1"/>
          <p:nvPr/>
        </p:nvSpPr>
        <p:spPr>
          <a:xfrm>
            <a:off x="6438900" y="2300287"/>
            <a:ext cx="50577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Plus Jakarta Sans"/>
              </a:rPr>
              <a:t>Python lexer/parser converts raw source code into tokens and builds an Abstract Syntax Tree (AST).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6F1B070-8E60-C349-6807-2C2985E19892}"/>
              </a:ext>
            </a:extLst>
          </p:cNvPr>
          <p:cNvSpPr txBox="1"/>
          <p:nvPr/>
        </p:nvSpPr>
        <p:spPr>
          <a:xfrm>
            <a:off x="6438900" y="3028950"/>
            <a:ext cx="531066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2. Bytecode Compilation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2B5D74-70E5-E1E3-542F-C0E2408D9A4A}"/>
              </a:ext>
            </a:extLst>
          </p:cNvPr>
          <p:cNvSpPr txBox="1"/>
          <p:nvPr/>
        </p:nvSpPr>
        <p:spPr>
          <a:xfrm>
            <a:off x="6438900" y="3228975"/>
            <a:ext cx="50577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Plus Jakarta Sans"/>
              </a:rPr>
              <a:t>AST is compiled into intermediate Python Bytecode instructions (opcodes like LOAD_CONST, BINARY_OP) stored in memory (or .pyc cache).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0F8739C-AE35-9A0B-F755-C9628510D53C}"/>
              </a:ext>
            </a:extLst>
          </p:cNvPr>
          <p:cNvSpPr txBox="1"/>
          <p:nvPr/>
        </p:nvSpPr>
        <p:spPr>
          <a:xfrm>
            <a:off x="6438900" y="3957637"/>
            <a:ext cx="531066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3. Python Virtual Machine (PVM Loop)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E92B4A7-EF75-AA1E-6FD4-4A29F8851B3F}"/>
              </a:ext>
            </a:extLst>
          </p:cNvPr>
          <p:cNvSpPr txBox="1"/>
          <p:nvPr/>
        </p:nvSpPr>
        <p:spPr>
          <a:xfrm>
            <a:off x="6438900" y="4157662"/>
            <a:ext cx="50577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Plus Jakarta Sans"/>
              </a:rPr>
              <a:t>The PVM evaluation loop (ceval.c) reads bytecode opcodes sequentially and evaluates them dynamically.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EF8520-D520-9B57-2EA7-66994B1A8692}"/>
              </a:ext>
            </a:extLst>
          </p:cNvPr>
          <p:cNvSpPr txBox="1"/>
          <p:nvPr/>
        </p:nvSpPr>
        <p:spPr>
          <a:xfrm>
            <a:off x="6438900" y="4886325"/>
            <a:ext cx="531066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4. Dynamic Runtime Execution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453F367-12A6-A735-3297-8A88F37C45B7}"/>
              </a:ext>
            </a:extLst>
          </p:cNvPr>
          <p:cNvSpPr txBox="1"/>
          <p:nvPr/>
        </p:nvSpPr>
        <p:spPr>
          <a:xfrm>
            <a:off x="6438900" y="5086350"/>
            <a:ext cx="50577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Plus Jakarta Sans"/>
              </a:rPr>
              <a:t>Handles dynamic typing and memory management, executing corresponding host CPU instructions and displaying output instantly.</a:t>
            </a:r>
          </a:p>
        </p:txBody>
      </p:sp>
      <p:pic>
        <p:nvPicPr>
          <p:cNvPr id="105" name="Picture 104" descr="image.png">
            <a:extLst>
              <a:ext uri="{FF2B5EF4-FFF2-40B4-BE49-F238E27FC236}">
                <a16:creationId xmlns:a16="http://schemas.microsoft.com/office/drawing/2014/main" id="{D359654D-8AF8-989D-67C9-30530A8D59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147292"/>
            <a:ext cx="233957" cy="209550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66A3EA1F-05B7-EAFF-9D2F-08D0F3BA7CF9}"/>
              </a:ext>
            </a:extLst>
          </p:cNvPr>
          <p:cNvSpPr txBox="1"/>
          <p:nvPr/>
        </p:nvSpPr>
        <p:spPr>
          <a:xfrm>
            <a:off x="888503" y="606393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Space Grotesk"/>
              </a:rPr>
              <a:t>Interpreter Workflow: Python Code Execution</a:t>
            </a:r>
          </a:p>
        </p:txBody>
      </p:sp>
    </p:spTree>
    <p:extLst>
      <p:ext uri="{BB962C8B-B14F-4D97-AF65-F5344CB8AC3E}">
        <p14:creationId xmlns:p14="http://schemas.microsoft.com/office/powerpoint/2010/main" val="3283530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043112"/>
          <a:ext cx="11010898" cy="349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38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Compiler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Interpreter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38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Translation 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Translates the whole program at once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Translates line-by-line sequentially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38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Execution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Fast (Pre-compiled binary)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Slower (Translated on the fly)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38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Target Code Saved?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Yes (e.g., .exe, .o files)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No target code stored on disk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38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Error Debugging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Harder (All errors listed at once)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Easier (Stops on first error)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8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Memory Usage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Higher (Requires object code storage)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Lower (No intermediate binary)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38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Primary Languages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C, C++, Rust, Go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Python, JavaScript, Ruby, PHP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557462"/>
            <a:ext cx="24223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12876" y="2557462"/>
            <a:ext cx="44579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70874" y="2557462"/>
            <a:ext cx="4130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0550" y="3052762"/>
            <a:ext cx="24223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12876" y="3052762"/>
            <a:ext cx="44579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70874" y="3052762"/>
            <a:ext cx="4130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550" y="3548062"/>
            <a:ext cx="24223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12876" y="3548062"/>
            <a:ext cx="44579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70874" y="3548062"/>
            <a:ext cx="4130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0" y="4043362"/>
            <a:ext cx="24223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12876" y="4043362"/>
            <a:ext cx="44579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70874" y="4043362"/>
            <a:ext cx="4130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0550" y="4538662"/>
            <a:ext cx="24223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2876" y="4538662"/>
            <a:ext cx="44579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70874" y="4538662"/>
            <a:ext cx="4130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0550" y="5033962"/>
            <a:ext cx="24223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12876" y="5033962"/>
            <a:ext cx="44579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70874" y="5033962"/>
            <a:ext cx="4130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38BDF8"/>
                </a:solidFill>
                <a:latin typeface="Space Grotesk"/>
              </a:rPr>
              <a:t>Key Differences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14550"/>
            <a:ext cx="1102995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876550"/>
            <a:ext cx="3524250" cy="2590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2876550"/>
            <a:ext cx="3524250" cy="2590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725" y="2876550"/>
            <a:ext cx="3524250" cy="2590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266950"/>
            <a:ext cx="10610850" cy="228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8FAFC"/>
                </a:solidFill>
                <a:latin typeface="Inter Medium"/>
              </a:rPr>
              <a:t>Modern language environments combine both strategies for optimal portability and runtime performance.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305050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152775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3857625"/>
            <a:ext cx="150862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1. Source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219575"/>
            <a:ext cx="2971800" cy="804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High-level language source code written by developers (e.g., Java or C# files).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100" y="3152775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0100" y="3857625"/>
            <a:ext cx="12518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2. Bytecode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219575"/>
            <a:ext cx="2971800" cy="804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An intermediate compiler converts source code into portable </a:t>
            </a:r>
            <a:r>
              <a:rPr sz="1275" b="0" i="0" u="none">
                <a:solidFill>
                  <a:srgbClr val="38BDF8"/>
                </a:solidFill>
                <a:latin typeface="Inter SemiBold"/>
              </a:rPr>
              <a:t>Bytecode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() rather than machine binary.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2950" y="3152775"/>
            <a:ext cx="51435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62950" y="3857625"/>
            <a:ext cx="161988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3. JIT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2950" y="4219575"/>
            <a:ext cx="29718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The Virtual Machine (JVM / .NET) interprets bytecode and uses a </a:t>
            </a:r>
            <a:r>
              <a:rPr sz="1275" b="0" i="0" u="none">
                <a:solidFill>
                  <a:srgbClr val="34D399"/>
                </a:solidFill>
                <a:latin typeface="Inter SemiBold"/>
              </a:rPr>
              <a:t>Just-In-Time (JIT)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compiler to translate frequent "hot spots" to machine code.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7262" y="3286125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4743450"/>
            <a:ext cx="581173" cy="28098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9923" y="4743450"/>
            <a:ext cx="432494" cy="280987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9162" y="3286125"/>
            <a:ext cx="27622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57571" y="5024437"/>
            <a:ext cx="655439" cy="28098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96300" y="3286125"/>
            <a:ext cx="247650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Hybrid Approach: JIT Compilers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643062"/>
            <a:ext cx="9525000" cy="130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38487"/>
            <a:ext cx="9525000" cy="1304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33912"/>
            <a:ext cx="9525000" cy="1304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3207" y="1881187"/>
            <a:ext cx="92055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Compilers = High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2224087"/>
            <a:ext cx="9048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Compilers optimize for </a:t>
            </a:r>
            <a:r>
              <a:rPr sz="1275" b="0" i="0" u="none">
                <a:solidFill>
                  <a:srgbClr val="38BDF8"/>
                </a:solidFill>
                <a:latin typeface="Inter SemiBold"/>
              </a:rPr>
              <a:t>maximum execution speed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 They are the standard choice for system software, game engines, operating systems, and embedded computing.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3207" y="3376612"/>
            <a:ext cx="92055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Interpreters = Flexibility &amp; Speed of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3719512"/>
            <a:ext cx="9048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Interpreters optimize for </a:t>
            </a:r>
            <a:r>
              <a:rPr sz="1275" b="0" i="0" u="none">
                <a:solidFill>
                  <a:srgbClr val="34D399"/>
                </a:solidFill>
                <a:latin typeface="Inter SemiBold"/>
              </a:rPr>
              <a:t>developer iteration and portability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 They excel in rapid prototyping, web development, data science, and scripting.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0832" y="4872037"/>
            <a:ext cx="9155519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Foundation for Compiler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5214937"/>
            <a:ext cx="9048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Understanding how language processors handle parsing, translation, and code generation forms the core foundation of our course in </a:t>
            </a:r>
            <a:r>
              <a:rPr sz="1275" b="0" i="0" u="none">
                <a:solidFill>
                  <a:srgbClr val="A78BFA"/>
                </a:solidFill>
                <a:latin typeface="Inter SemiBold"/>
              </a:rPr>
              <a:t>Compiler Design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1919287"/>
            <a:ext cx="186332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1625" y="3414712"/>
            <a:ext cx="186332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1625" y="4910137"/>
            <a:ext cx="233957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Summary &amp; Key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852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Rakesh Reddy</cp:lastModifiedBy>
  <cp:revision>8</cp:revision>
  <dcterms:created xsi:type="dcterms:W3CDTF">2013-01-27T09:14:16Z</dcterms:created>
  <dcterms:modified xsi:type="dcterms:W3CDTF">2026-07-30T08:42:35Z</dcterms:modified>
  <cp:category/>
</cp:coreProperties>
</file>